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Giriş: uygulamanın ne olduğunu tek cümlede tanımla. Şu an sahada kullanılan, çalışan bir sistem olduğunu vurgula.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dört soru bugün telefonla, WhatsApp ile veya hafızayla çözülüyor. Hepsi hata payı taşıyor.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 ayrımı sadece görsel değil; sunucu tarafındaki güvenlik kurallarıyla da uygulanıyor.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slayt sunumun merkezi. Vurgu: bölge müdürü artık bilgi toplamak için kimseyi aramıyor; bilgi zaten önünde.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Barkod okuma ve el feneri sadece telefonda çalışır; tarayıcıda test edilemez.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akış uygulamanın en çok iş yükü azaltan parçası: iki ayrı yerde tutulan stok tek işlemle senkron kalıyor.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Kutu cinsinden gösterim tedarikçiyle konuşulan birimle aynı; çeviri yapmaya gerek kalmıyor.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Eğitim tarafı, ürün standardını ölçülebilir hale getiriyor: kim neyi bilmiyor, veriyle görünüyor.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Zayi raporunun değeri, silme sebebinin zorunlu olmasından geliyor. Veri sonradan tahmin edilmiyor.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Offline çalışma sahada kritik: depoda internet çekmeyebilir, işlem yine de kaybolmaz.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tabloyu sunumun kapanış argümanı olarak kullan: her satır somut bir davranış değişikliği.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Kapanış: sonraki adımları netleştir ve karar iste.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0E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100" kern="0" dirty="0">
                <a:solidFill>
                  <a:srgbClr val="F2ED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1401 COFFEE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822960" y="30175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8C9B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Akıllı Operasyon Sistemi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379476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A9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Envanter, son kullanma tarihi, donuk stok, reçete ve eğitim takibini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A9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mobil uygulamada toplayan saha yazılımı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4892040"/>
            <a:ext cx="2011680" cy="0"/>
          </a:xfrm>
          <a:prstGeom prst="line">
            <a:avLst/>
          </a:prstGeom>
          <a:noFill/>
          <a:ln w="19050">
            <a:solidFill>
              <a:srgbClr val="332C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5074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87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Bölge Müdürü Sunumu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0E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87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ED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vardiya tekrar eden sorular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57800" cy="1325880"/>
          </a:xfrm>
          <a:prstGeom prst="roundRect">
            <a:avLst>
              <a:gd name="adj" fmla="val 5517"/>
            </a:avLst>
          </a:prstGeom>
          <a:solidFill>
            <a:srgbClr val="1B1715"/>
          </a:solidFill>
          <a:ln w="12700">
            <a:solidFill>
              <a:srgbClr val="332C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19656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ürünün SKT’si ne zaman doluyor?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2258568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 kişiye bağlı; atlanınca zayi doğuyor.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257800" cy="1325880"/>
          </a:xfrm>
          <a:prstGeom prst="roundRect">
            <a:avLst>
              <a:gd name="adj" fmla="val 5517"/>
            </a:avLst>
          </a:prstGeom>
          <a:solidFill>
            <a:srgbClr val="1B1715"/>
          </a:solidFill>
          <a:ln w="12700">
            <a:solidFill>
              <a:srgbClr val="332C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819656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Donukta ne kaldı, ne sipariş vermeliyim?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0" y="2258568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Sipariş çoğunlukla tahminle veriliyor.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172968"/>
            <a:ext cx="5257800" cy="1325880"/>
          </a:xfrm>
          <a:prstGeom prst="roundRect">
            <a:avLst>
              <a:gd name="adj" fmla="val 5517"/>
            </a:avLst>
          </a:prstGeom>
          <a:solidFill>
            <a:srgbClr val="1B1715"/>
          </a:solidFill>
          <a:ln w="12700">
            <a:solidFill>
              <a:srgbClr val="332C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392424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Teşhire koyacağım ürün elimde var mı?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3831336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Dolap ile depo arasında bağ yok.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3172968"/>
            <a:ext cx="5257800" cy="1325880"/>
          </a:xfrm>
          <a:prstGeom prst="roundRect">
            <a:avLst>
              <a:gd name="adj" fmla="val 5517"/>
            </a:avLst>
          </a:prstGeom>
          <a:solidFill>
            <a:srgbClr val="1B1715"/>
          </a:solidFill>
          <a:ln w="12700">
            <a:solidFill>
              <a:srgbClr val="332C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3392424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Hangi şube risk altında?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83680" y="3831336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Bilgi ancak sorulduğunda, telefonla geliyor.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5029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C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AOS bu dört soruyu da kişiye değil, sisteme sorar.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0E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87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ED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Üç rol, tek uygulama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429000" cy="3611880"/>
          </a:xfrm>
          <a:prstGeom prst="roundRect">
            <a:avLst>
              <a:gd name="adj" fmla="val 2133"/>
            </a:avLst>
          </a:prstGeom>
          <a:solidFill>
            <a:srgbClr val="1B1715"/>
          </a:solidFill>
          <a:ln w="12700">
            <a:solidFill>
              <a:srgbClr val="332C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7452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C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BARİSTA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2286000"/>
            <a:ext cx="2880360" cy="0"/>
          </a:xfrm>
          <a:prstGeom prst="line">
            <a:avLst/>
          </a:prstGeom>
          <a:noFill/>
          <a:ln w="12700">
            <a:solidFill>
              <a:srgbClr val="332C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450592"/>
            <a:ext cx="2880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A9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Barkod tarama ve ürün girişi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A9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Teşhir dolabı ve donuk stok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A9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 reçetelik dijital reçete kitabı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A9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 sınavı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61688" y="1600200"/>
            <a:ext cx="3429000" cy="3611880"/>
          </a:xfrm>
          <a:prstGeom prst="roundRect">
            <a:avLst>
              <a:gd name="adj" fmla="val 2133"/>
            </a:avLst>
          </a:prstGeom>
          <a:solidFill>
            <a:srgbClr val="1B1715"/>
          </a:solidFill>
          <a:ln w="12700">
            <a:solidFill>
              <a:srgbClr val="332C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36008" y="187452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09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ŞUBE MÜDÜRÜ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36008" y="2286000"/>
            <a:ext cx="2880360" cy="0"/>
          </a:xfrm>
          <a:prstGeom prst="line">
            <a:avLst/>
          </a:prstGeom>
          <a:noFill/>
          <a:ln w="12700">
            <a:solidFill>
              <a:srgbClr val="332C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2450592"/>
            <a:ext cx="2880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A9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Şubenin tüm envanteri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A9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Akıllı sipariş önerisi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A9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Zayi ve tüketim raporları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A9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Barista sınav sonuçları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83296" y="1600200"/>
            <a:ext cx="3429000" cy="3611880"/>
          </a:xfrm>
          <a:prstGeom prst="roundRect">
            <a:avLst>
              <a:gd name="adj" fmla="val 2133"/>
            </a:avLst>
          </a:prstGeom>
          <a:solidFill>
            <a:srgbClr val="1B1715"/>
          </a:solidFill>
          <a:ln w="12700">
            <a:solidFill>
              <a:srgbClr val="332C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57616" y="187452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F9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BÖLGE MÜDÜRÜ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57616" y="2286000"/>
            <a:ext cx="2880360" cy="0"/>
          </a:xfrm>
          <a:prstGeom prst="line">
            <a:avLst/>
          </a:prstGeom>
          <a:noFill/>
          <a:ln w="12700">
            <a:solidFill>
              <a:srgbClr val="332C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57616" y="2450592"/>
            <a:ext cx="2880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A9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Bölgedeki tüm şubeler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A9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Şube bazlı detaya iniş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A9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Bölge geneli raporlar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A9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dışa aktarım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54406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87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rol yalnızca kendi işini görür; ekranlar birbirinden tamamen ayrıdır.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0E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87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 İÇIN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ED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 ekrandan bütün bölge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486400" cy="3566160"/>
          </a:xfrm>
          <a:prstGeom prst="roundRect">
            <a:avLst>
              <a:gd name="adj" fmla="val 2051"/>
            </a:avLst>
          </a:prstGeom>
          <a:solidFill>
            <a:srgbClr val="1B1715"/>
          </a:solidFill>
          <a:ln w="12700">
            <a:solidFill>
              <a:srgbClr val="332C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4708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Bölge paneli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4937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A9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Bölgenizdeki şubeler tek listede, tarihi geçen ürün sayısına göre sıralı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A9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Riskli şube en üstte görünür — aramanıza gerek kalmaz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A9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şubenin eğitim ortalaması ve teşhir dolabı doluluğu yan yana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A9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şubeye dokunup o şubenin envanterine ve raporlarına inebilirsiniz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A9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Bölge özetini CSV olarak dışa aktarıp paylaşabilirsiniz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0" y="1600200"/>
            <a:ext cx="5120640" cy="1097280"/>
          </a:xfrm>
          <a:prstGeom prst="roundRect">
            <a:avLst>
              <a:gd name="adj" fmla="val 6667"/>
            </a:avLst>
          </a:prstGeom>
          <a:solidFill>
            <a:srgbClr val="221D1A"/>
          </a:solidFill>
          <a:ln w="12700">
            <a:solidFill>
              <a:srgbClr val="332C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93408" y="17647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9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 okunur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93408" y="2075688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9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Şube verisine bakarsınız,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9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yanlışlıkla değiştiremezsiniz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2834640"/>
            <a:ext cx="5120640" cy="1097280"/>
          </a:xfrm>
          <a:prstGeom prst="roundRect">
            <a:avLst>
              <a:gd name="adj" fmla="val 6667"/>
            </a:avLst>
          </a:prstGeom>
          <a:solidFill>
            <a:srgbClr val="221D1A"/>
          </a:solidFill>
          <a:ln w="12700">
            <a:solidFill>
              <a:srgbClr val="332C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93408" y="29992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zamanlı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93408" y="3310128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9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Şubede girilen kayıt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9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anında panele düşer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4069080"/>
            <a:ext cx="5120640" cy="1097280"/>
          </a:xfrm>
          <a:prstGeom prst="roundRect">
            <a:avLst>
              <a:gd name="adj" fmla="val 6667"/>
            </a:avLst>
          </a:prstGeom>
          <a:solidFill>
            <a:srgbClr val="221D1A"/>
          </a:solidFill>
          <a:ln w="12700">
            <a:solidFill>
              <a:srgbClr val="332C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93408" y="4233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9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kaynak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93408" y="4544568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9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 trafiği yerine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9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herkes aynı veriye bakar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0E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87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ÇEKIRDEK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ED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Envanter ve son kullanma takibi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64792"/>
            <a:ext cx="384048" cy="384048"/>
          </a:xfrm>
          <a:prstGeom prst="ellipse">
            <a:avLst/>
          </a:prstGeom>
          <a:solidFill>
            <a:srgbClr val="221D1A"/>
          </a:solidFill>
          <a:ln w="12700">
            <a:solidFill>
              <a:srgbClr val="8C9BA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64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C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07008" y="172821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Barkod ile giriş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07008" y="205740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A9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 kamerası barkodu okur; ürün saniyeler içinde envantere girer.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764792"/>
            <a:ext cx="384048" cy="384048"/>
          </a:xfrm>
          <a:prstGeom prst="ellipse">
            <a:avLst/>
          </a:prstGeom>
          <a:solidFill>
            <a:srgbClr val="221D1A"/>
          </a:solidFill>
          <a:ln w="12700">
            <a:solidFill>
              <a:srgbClr val="8C9BA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63640" y="1764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C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30568" y="172821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 adı otomatik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830568" y="205740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A9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Bilinmeyen barkodda ürün adı internetten çekilir, elle yazma gerekmez.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063240"/>
            <a:ext cx="384048" cy="384048"/>
          </a:xfrm>
          <a:prstGeom prst="ellipse">
            <a:avLst/>
          </a:prstGeom>
          <a:solidFill>
            <a:srgbClr val="221D1A"/>
          </a:solidFill>
          <a:ln w="12700">
            <a:solidFill>
              <a:srgbClr val="8C9BA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C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07008" y="302666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Karanlıkta da okur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07008" y="3355848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A9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 ve dolap içi için uygulama içinden el feneri açılır.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3063240"/>
            <a:ext cx="384048" cy="384048"/>
          </a:xfrm>
          <a:prstGeom prst="ellipse">
            <a:avLst/>
          </a:prstGeom>
          <a:solidFill>
            <a:srgbClr val="221D1A"/>
          </a:solidFill>
          <a:ln w="12700">
            <a:solidFill>
              <a:srgbClr val="8C9BA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C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30568" y="302666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SKT’ye göre renk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830568" y="3355848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A9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ürün tarihi geçen / kritik / güvenli olarak ayrışır.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361688"/>
            <a:ext cx="384048" cy="384048"/>
          </a:xfrm>
          <a:prstGeom prst="ellipse">
            <a:avLst/>
          </a:prstGeom>
          <a:solidFill>
            <a:srgbClr val="221D1A"/>
          </a:solidFill>
          <a:ln w="12700">
            <a:solidFill>
              <a:srgbClr val="8C9BA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361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C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07008" y="432511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ve arama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207008" y="4654296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A9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Ürün, barkod veya kategoriye göre anında süzülür.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63640" y="4361688"/>
            <a:ext cx="384048" cy="384048"/>
          </a:xfrm>
          <a:prstGeom prst="ellipse">
            <a:avLst/>
          </a:prstGeom>
          <a:solidFill>
            <a:srgbClr val="221D1A"/>
          </a:solidFill>
          <a:ln w="12700">
            <a:solidFill>
              <a:srgbClr val="8C9BA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4361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C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30568" y="432511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aktarım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830568" y="4654296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A9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Envanter dışa aktarılır, toplu liste içeri alınır.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0E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87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AKIŞ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ED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Donuk stoktan teşhir dolabına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383280" cy="2377440"/>
          </a:xfrm>
          <a:prstGeom prst="roundRect">
            <a:avLst>
              <a:gd name="adj" fmla="val 3077"/>
            </a:avLst>
          </a:prstGeom>
          <a:solidFill>
            <a:srgbClr val="1B1715"/>
          </a:solidFill>
          <a:ln w="12700">
            <a:solidFill>
              <a:srgbClr val="332C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2011680"/>
            <a:ext cx="420624" cy="420624"/>
          </a:xfrm>
          <a:prstGeom prst="ellipse">
            <a:avLst/>
          </a:prstGeom>
          <a:solidFill>
            <a:srgbClr val="221D1A"/>
          </a:solidFill>
          <a:ln w="12700">
            <a:solidFill>
              <a:srgbClr val="8C9B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011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C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32688" y="2606040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Donuk stok girişi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32688" y="2971800"/>
            <a:ext cx="27980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9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Kutu geldiğinde ürün seçilir;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9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kutu içi adet otomatik gelir.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33088" y="2788920"/>
            <a:ext cx="365760" cy="256032"/>
          </a:xfrm>
          <a:prstGeom prst="rightArrow">
            <a:avLst/>
          </a:prstGeom>
          <a:solidFill>
            <a:srgbClr val="332C28"/>
          </a:solidFill>
          <a:ln w="12700">
            <a:solidFill>
              <a:srgbClr val="332C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1737360"/>
            <a:ext cx="3383280" cy="2377440"/>
          </a:xfrm>
          <a:prstGeom prst="roundRect">
            <a:avLst>
              <a:gd name="adj" fmla="val 3077"/>
            </a:avLst>
          </a:prstGeom>
          <a:solidFill>
            <a:srgbClr val="1B1715"/>
          </a:solidFill>
          <a:ln w="12700">
            <a:solidFill>
              <a:srgbClr val="332C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10328" y="2011680"/>
            <a:ext cx="420624" cy="420624"/>
          </a:xfrm>
          <a:prstGeom prst="ellipse">
            <a:avLst/>
          </a:prstGeom>
          <a:solidFill>
            <a:srgbClr val="221D1A"/>
          </a:solidFill>
          <a:ln w="12700">
            <a:solidFill>
              <a:srgbClr val="C091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0328" y="2011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9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10328" y="2606040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Teşhire çıkış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10328" y="2971800"/>
            <a:ext cx="27980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9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Vitrine konan adet elle girilir;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9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SKT otomatik 3 gün atanır.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10728" y="2788920"/>
            <a:ext cx="365760" cy="256032"/>
          </a:xfrm>
          <a:prstGeom prst="rightArrow">
            <a:avLst/>
          </a:prstGeom>
          <a:solidFill>
            <a:srgbClr val="332C28"/>
          </a:solidFill>
          <a:ln w="12700">
            <a:solidFill>
              <a:srgbClr val="332C2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95360" y="1737360"/>
            <a:ext cx="3383280" cy="2377440"/>
          </a:xfrm>
          <a:prstGeom prst="roundRect">
            <a:avLst>
              <a:gd name="adj" fmla="val 3077"/>
            </a:avLst>
          </a:prstGeom>
          <a:solidFill>
            <a:srgbClr val="1B1715"/>
          </a:solidFill>
          <a:ln w="12700">
            <a:solidFill>
              <a:srgbClr val="332C2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87968" y="2011680"/>
            <a:ext cx="420624" cy="420624"/>
          </a:xfrm>
          <a:prstGeom prst="ellipse">
            <a:avLst/>
          </a:prstGeom>
          <a:solidFill>
            <a:srgbClr val="221D1A"/>
          </a:solidFill>
          <a:ln w="12700">
            <a:solidFill>
              <a:srgbClr val="6F9E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87968" y="2011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F9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887968" y="2606040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düşüm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887968" y="2971800"/>
            <a:ext cx="27980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9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ürün donuk stoktan düşülür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9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işlem kaydedilir.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434340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221D1A"/>
          </a:solidFill>
          <a:ln w="12700">
            <a:solidFill>
              <a:srgbClr val="332C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572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9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önemli: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286000" y="457200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9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Teşhire konan ürün depoda azalmış sayılır. Böylece “dolapta var ama depoda yok” durumu ortadan kalkar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9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sipariş önerisi gerçek stok üzerinden hesaplanır.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0E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87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 DESTEĞI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ED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sipariş vermeliyim?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486400" cy="3520440"/>
          </a:xfrm>
          <a:prstGeom prst="roundRect">
            <a:avLst>
              <a:gd name="adj" fmla="val 2078"/>
            </a:avLst>
          </a:prstGeom>
          <a:solidFill>
            <a:srgbClr val="1B1715"/>
          </a:solidFill>
          <a:ln w="12700">
            <a:solidFill>
              <a:srgbClr val="332C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4708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Nasıl hesaplanır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4937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A9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30 günün tüketim kayıtlarından günlük ortalama hız çıkarılır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A9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günlük hedef stok üzerinden ihtiyaç hesaplanır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A9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Donuk stokta tükenen veya kritik seviyeye düşen ürünler ayrıca işaretlenir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A9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Yaklaşan SKT’ler de hesaba katılır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0" y="1600200"/>
            <a:ext cx="5120640" cy="3520440"/>
          </a:xfrm>
          <a:prstGeom prst="roundRect">
            <a:avLst>
              <a:gd name="adj" fmla="val 2078"/>
            </a:avLst>
          </a:prstGeom>
          <a:solidFill>
            <a:srgbClr val="221D1A"/>
          </a:solidFill>
          <a:ln w="12700">
            <a:solidFill>
              <a:srgbClr val="332C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93408" y="18470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Çıktı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93408" y="22677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87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Sipariş kutu cinsinden verilir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693408" y="267004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Muzlu Rulo Pasta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12680" y="267004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09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kutu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93408" y="3035808"/>
            <a:ext cx="4572000" cy="0"/>
          </a:xfrm>
          <a:prstGeom prst="line">
            <a:avLst/>
          </a:prstGeom>
          <a:noFill/>
          <a:ln w="9525">
            <a:solidFill>
              <a:srgbClr val="332C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93408" y="309067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Newyork Lotus Cheesecake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12680" y="309067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09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kutu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693408" y="3456432"/>
            <a:ext cx="4572000" cy="0"/>
          </a:xfrm>
          <a:prstGeom prst="line">
            <a:avLst/>
          </a:prstGeom>
          <a:noFill/>
          <a:ln w="9525">
            <a:solidFill>
              <a:srgbClr val="332C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93408" y="351129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Lotus Magnolya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12680" y="3511296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09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kutu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693408" y="3877056"/>
            <a:ext cx="4572000" cy="0"/>
          </a:xfrm>
          <a:prstGeom prst="line">
            <a:avLst/>
          </a:prstGeom>
          <a:noFill/>
          <a:ln w="9525">
            <a:solidFill>
              <a:srgbClr val="332C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93408" y="422452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F9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tek dokunuşla WhatsApp’tan tedarikçiye gönderilir.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0E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87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ED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Reçete kitabı ve barista eğitimi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1B1715"/>
          </a:solidFill>
          <a:ln w="12700">
            <a:solidFill>
              <a:srgbClr val="332C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7830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2ED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2331720" y="20848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C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reçete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2606040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9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Menünün tamamı uygulamada;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9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kategoriye göre filtrelenir, ada göre aranır.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60020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1B1715"/>
          </a:solidFill>
          <a:ln w="12700">
            <a:solidFill>
              <a:srgbClr val="332C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7830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2ED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7955280" y="20848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C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soruluk sınav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83680" y="2606040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9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Sorular reçetelerden otomatik üretilir;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9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malzeme ve gramaj sorulur.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520440"/>
            <a:ext cx="10881360" cy="1691640"/>
          </a:xfrm>
          <a:prstGeom prst="roundRect">
            <a:avLst>
              <a:gd name="adj" fmla="val 4324"/>
            </a:avLst>
          </a:prstGeom>
          <a:solidFill>
            <a:srgbClr val="221D1A"/>
          </a:solidFill>
          <a:ln w="12700">
            <a:solidFill>
              <a:srgbClr val="332C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7490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Sınav sonucu ölçülebilir bir eğitim verisidir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411480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A9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sınav sonucu şube kaydına işlenir; kaybolmaz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A9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Şube müdürü bir baristaya dokunarak hangi soruyu neden yanlış yaptığını görebilir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A9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Bölge müdürü şubelerin eğitim ortalamasını karşılaştırabilir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0E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87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GÖRÜNÜRLÜK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ED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Raporlar ve dışa aktarım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57800" cy="1554480"/>
          </a:xfrm>
          <a:prstGeom prst="roundRect">
            <a:avLst>
              <a:gd name="adj" fmla="val 4706"/>
            </a:avLst>
          </a:prstGeom>
          <a:solidFill>
            <a:srgbClr val="1B1715"/>
          </a:solidFill>
          <a:ln w="12700">
            <a:solidFill>
              <a:srgbClr val="332C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37944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Zayi raporu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2258568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9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Çöpe giden her ürün; tarih, miktar ve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9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sebebiyle birlikte kayıt altında.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257800" cy="1554480"/>
          </a:xfrm>
          <a:prstGeom prst="roundRect">
            <a:avLst>
              <a:gd name="adj" fmla="val 4706"/>
            </a:avLst>
          </a:prstGeom>
          <a:solidFill>
            <a:srgbClr val="1B1715"/>
          </a:solidFill>
          <a:ln w="12700">
            <a:solidFill>
              <a:srgbClr val="332C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837944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F9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Tüketim raporu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0" y="2258568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9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Satılan ve tüketilen ürünler;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9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sipariş tahmininin de girdisi.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383280"/>
            <a:ext cx="5257800" cy="1554480"/>
          </a:xfrm>
          <a:prstGeom prst="roundRect">
            <a:avLst>
              <a:gd name="adj" fmla="val 4706"/>
            </a:avLst>
          </a:prstGeom>
          <a:solidFill>
            <a:srgbClr val="1B1715"/>
          </a:solidFill>
          <a:ln w="12700">
            <a:solidFill>
              <a:srgbClr val="332C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621024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Bölge özeti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4041648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9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Şube şube zayi ve tüketim kırılımı,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9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ekranda karşılaştırmalı.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3383280"/>
            <a:ext cx="5257800" cy="1554480"/>
          </a:xfrm>
          <a:prstGeom prst="roundRect">
            <a:avLst>
              <a:gd name="adj" fmla="val 4706"/>
            </a:avLst>
          </a:prstGeom>
          <a:solidFill>
            <a:srgbClr val="1B1715"/>
          </a:solidFill>
          <a:ln w="12700">
            <a:solidFill>
              <a:srgbClr val="332C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3621024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9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dışa aktarım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83680" y="4041648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9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veriler tabloya aktarılıp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9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Excel’de işlenebilir, paylaşılabilir.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53492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787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Silme işleminde sebep seçimi zorunludur — bu yüzden zayi verisi gerçekten anlamlıdır.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0E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87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ALTYAPI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ED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Sahada çalışacak şekilde kurgulandı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1B1715"/>
          </a:solidFill>
          <a:ln w="12700">
            <a:solidFill>
              <a:srgbClr val="332C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77393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kesilse de durmaz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60120" y="2066544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İşlem önce cihaza yazılır, bağlantı gelince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9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sunucuya senkronize edilir. Vardiya durmaz.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221D1A"/>
          </a:solidFill>
          <a:ln w="12700">
            <a:solidFill>
              <a:srgbClr val="332C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7340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Şube verileri birbirinden izole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60120" y="3026664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şubenin verisi ayrı tutulur; kim neyi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9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görebilir sunucu tarafında kurallarla belirlenir.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566160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1B1715"/>
          </a:solidFill>
          <a:ln w="12700">
            <a:solidFill>
              <a:srgbClr val="332C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69417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zamanlı senkron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60120" y="3986784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cihazda girilen kayıt, yetkili diğer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9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cihazlarda anında görünür.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526280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221D1A"/>
          </a:solidFill>
          <a:ln w="12700">
            <a:solidFill>
              <a:srgbClr val="332C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465429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şubeli büyümeye hazır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60120" y="4946904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şube ve bölge eklemek veri modelini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9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değiştirmeden yapılabilir.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5623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telefonlarda kurulabilir uygulama olarak dağıtılır.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0E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87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ED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Bölge Müdürü için ne değişiyor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87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KONU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87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58952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F9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AOS İLE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05740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1B1715"/>
          </a:solidFill>
          <a:ln w="12700">
            <a:solidFill>
              <a:srgbClr val="332C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7685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Bilgi toplama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657600" y="227685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Şubeleri arayıp durum sormak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589520" y="227685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Panelde şubeler risk sırasına dizili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898648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100E0D"/>
          </a:solidFill>
          <a:ln w="12700">
            <a:solidFill>
              <a:srgbClr val="332C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11810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Zayi takibi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657600" y="311810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 sonunda fark edilen kayıp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589520" y="311810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Sebebiyle birlikte anlık kayıt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739896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1B1715"/>
          </a:solidFill>
          <a:ln w="12700">
            <a:solidFill>
              <a:srgbClr val="332C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95935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Sipariş kararı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657600" y="395935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Şube müdürünün tahmini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589520" y="395935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günlük tüketime dayalı öneri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581144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100E0D"/>
          </a:solidFill>
          <a:ln w="12700">
            <a:solidFill>
              <a:srgbClr val="332C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8006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 standardı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657600" y="480060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Gözleme dayalı değerlendirme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589520" y="480060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Sınav sonucuyla ölçülen bilgi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0E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ED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hazır ve çalışıyor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1546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A9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 Android cihazlara kurulabilir durumda; şube verileri, reçeteler ve</a:t>
            </a:r>
            <a:endParaRPr lang="en-US" sz="15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A9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hesapları tanımlı. Bölgeye yaygınlaştırma için hazır.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868680" y="4288536"/>
            <a:ext cx="118872" cy="118872"/>
          </a:xfrm>
          <a:prstGeom prst="ellipse">
            <a:avLst/>
          </a:prstGeom>
          <a:solidFill>
            <a:srgbClr val="8C9BAE"/>
          </a:solidFill>
          <a:ln w="12700">
            <a:solidFill>
              <a:srgbClr val="8C9BA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420624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Şubelere kurulum ve kullanıcı tanımı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68680" y="4745736"/>
            <a:ext cx="118872" cy="118872"/>
          </a:xfrm>
          <a:prstGeom prst="ellipse">
            <a:avLst/>
          </a:prstGeom>
          <a:solidFill>
            <a:srgbClr val="8C9BAE"/>
          </a:solidFill>
          <a:ln w="12700">
            <a:solidFill>
              <a:srgbClr val="8C9BA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466344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Barista PIN’lerinin şubelere dağıtımı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68680" y="5202936"/>
            <a:ext cx="118872" cy="118872"/>
          </a:xfrm>
          <a:prstGeom prst="ellipse">
            <a:avLst/>
          </a:prstGeom>
          <a:solidFill>
            <a:srgbClr val="8C9BAE"/>
          </a:solidFill>
          <a:ln w="12700">
            <a:solidFill>
              <a:srgbClr val="8C9BA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512064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hafta birlikte kullanım ve geri bildirim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5943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50" kern="0" dirty="0">
                <a:solidFill>
                  <a:srgbClr val="787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1401 COFFEE  ·  Akıllı Operasyon Sistemi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1401 Coffee AOS</dc:title>
  <dc:subject>PptxGenJS Presentation</dc:subject>
  <dc:creator>1401 Coffee</dc:creator>
  <cp:lastModifiedBy>1401 Coffee</cp:lastModifiedBy>
  <cp:revision>1</cp:revision>
  <dcterms:created xsi:type="dcterms:W3CDTF">2026-08-01T10:41:26Z</dcterms:created>
  <dcterms:modified xsi:type="dcterms:W3CDTF">2026-08-01T10:41:26Z</dcterms:modified>
</cp:coreProperties>
</file>